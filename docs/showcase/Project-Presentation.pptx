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primitive-built interactive room. Mention the arrival, rescue mission, and independently switchable rendering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embedded Project-Demo.mp4. Explain features using the timed narration guide; continue with individual screenshots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 cube needs 24 vertices and why the sphere duplicates its seam. Point to curved heads, wheels and scaled ellipsoids. The models are authored from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the house, garden, poster, bed, curtains and bookcase. Colour maps add detail without changing geometry; alpha coverage is different from transparency blending.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independent per-actor ownership and world-to-local conversion during mounting. Demonstrate one parameter change in the inspector. F2 selects raster mode for an actual Gouraud/Phong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matching rendered treads and grounded support, Buzz's actual entrance hit, debris motion, wheel rotation and bounded physics substeps.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Move/tilt the lamp and explain how its light anchor and head axis follow the hierarchy. Toggle F5/F6/F7. The lamp's 22°/34° cone has a smooth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illumination from shading. Gouraud can miss a narrow highlight between vertices. Phong normalizes the interpolated normal and evaluates the reflection-vector term per fragment.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polished-floor reflection. Explain unnormalised object-space ray directions and the invariant t. State that transparency is straight-through, with no physical refraction or diffuse indirect bounces.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Be ready to change shininess, light attenuation, lamp cone, movement speed, scale, or ray bounce count and explain the observed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Relationship Id="rId6" Type="http://schemas.microsoft.com/office/2007/relationships/media" Target="../media/media1.mp4"/><Relationship Id="rId7" Type="http://schemas.openxmlformats.org/officeDocument/2006/relationships/video" Target="../media/media1.mp4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01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THE MIDNIGHT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A haunted toy room. An interactive graphics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Adiba Tahsin · Roll 2107031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CSE-4102 · Computer Graphics and Image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Processing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86784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Md Tajmilur Rahman, Lecturer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Md Mubtashim Abrar Nihal, Lecturer</a:t>
            </a:r>
          </a:p>
        </p:txBody>
      </p:sp>
      <p:pic>
        <p:nvPicPr>
          <p:cNvPr id="11" name="Picture 10" descr="slide-01-room-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8366760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6656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6684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ROOM NIGHT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01 / 10</a:t>
            </a:r>
          </a:p>
        </p:txBody>
      </p:sp>
      <p:pic>
        <p:nvPicPr>
          <p:cNvPr id="16" name="Picture 15" descr="KUE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0" y="502920"/>
            <a:ext cx="685800" cy="7777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02 FEATURES + PROJECT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EXPLORE, CONTROL,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The proposal is realised as a complete arrival, puzzle, rescues and outdoor escape.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Five driveable toys; ball and lamp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TRS + hierarchy; mounting and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dismounting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Three light types; Gouraud and Phong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22 surface maps; analytic BVH ray tracing</a:t>
            </a:r>
          </a:p>
        </p:txBody>
      </p:sp>
      <p:pic>
        <p:nvPicPr>
          <p:cNvPr id="11" name="Picture 10" descr="slide-02-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8366760" cy="1810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4370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4398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HOUSE</a:t>
            </a:r>
          </a:p>
        </p:txBody>
      </p:sp>
      <p:pic>
        <p:nvPicPr>
          <p:cNvPr id="14" name="Picture 13" descr="slide-02-moun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846320"/>
            <a:ext cx="8366760" cy="18105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669280" y="6656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6684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MOUNTED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02 / 10</a:t>
            </a:r>
          </a:p>
        </p:txBody>
      </p:sp>
      <p:pic>
        <p:nvPicPr>
          <p:cNvPr id="19" name="Project-Demo.mp4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77240" y="5852160"/>
            <a:ext cx="4206240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86968" y="5971032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655" b="1">
                <a:solidFill>
                  <a:srgbClr val="FFDB67"/>
                </a:solidFill>
                <a:latin typeface="Segoe UI"/>
              </a:defRPr>
            </a:pPr>
            <a:r>
              <a:t>PLAY PROJECT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03 GEOMETRY +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PRIMITIVES BECOME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Position, normal and UV data define five indexed mesh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Plane 4 vertices / 2 triangles; cube 24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Sphere: 24 × 36 → 925 vertices / 1656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triangles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Cylinder: 134 / 128; cone: 99 /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The scene uses shared buffers and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instance transforms</a:t>
            </a:r>
          </a:p>
        </p:txBody>
      </p:sp>
      <p:pic>
        <p:nvPicPr>
          <p:cNvPr id="11" name="Picture 10" descr="slide-03-woo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5394960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5303520"/>
            <a:ext cx="53949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330952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WOODY</a:t>
            </a:r>
          </a:p>
        </p:txBody>
      </p:sp>
      <p:pic>
        <p:nvPicPr>
          <p:cNvPr id="14" name="Picture 13" descr="slide-03-buz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560320"/>
            <a:ext cx="2788920" cy="18105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247120" y="4370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4398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BUZZ</a:t>
            </a:r>
          </a:p>
        </p:txBody>
      </p:sp>
      <p:pic>
        <p:nvPicPr>
          <p:cNvPr id="17" name="Picture 16" descr="slide-03-pen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4846320"/>
            <a:ext cx="2788920" cy="18105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247120" y="6656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6684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PENNY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04 ENVIRONMENT + TEXTURES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A WORLD WITH SURFACE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The house, garden, room and furniture belong to one connected scene.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Wood grain, wallpaper, cloth, moon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craters and book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UV repeats multiply material colour by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sampled 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Picket alpha cuts holes and replaces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repeated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22 maps plus white in one texture array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serves the ray tracer</a:t>
            </a:r>
          </a:p>
        </p:txBody>
      </p:sp>
      <p:pic>
        <p:nvPicPr>
          <p:cNvPr id="11" name="Picture 10" descr="slide-04-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5394960" cy="2743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5303520"/>
            <a:ext cx="53949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330952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HOUSE</a:t>
            </a:r>
          </a:p>
        </p:txBody>
      </p:sp>
      <p:pic>
        <p:nvPicPr>
          <p:cNvPr id="14" name="Picture 13" descr="slide-04-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560320"/>
            <a:ext cx="2788920" cy="181051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247120" y="4370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4398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WINDOW</a:t>
            </a:r>
          </a:p>
        </p:txBody>
      </p:sp>
      <p:pic>
        <p:nvPicPr>
          <p:cNvPr id="17" name="Picture 16" descr="slide-04-book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4846320"/>
            <a:ext cx="2788920" cy="181051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1247120" y="6656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6684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BOOKCASE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05 TRANSFORMS +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ONE PARENT MOVES THE RIDER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Mworld(child) = Mworld(parent) × Mlocal(child)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R: mount/dismount within 2.2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1–5 + W/S/A/D: choose and drive a toy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8678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Select: live takeover; 0 release; N full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F: inspect; C: Free / Orbit / Follow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31536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Normal matrix = inverse transpose of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world linear part</a:t>
            </a:r>
          </a:p>
        </p:txBody>
      </p:sp>
      <p:pic>
        <p:nvPicPr>
          <p:cNvPr id="12" name="Picture 11" descr="slide-05-live-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8366760" cy="18105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0" y="4370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398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LIVE CONTROL</a:t>
            </a:r>
          </a:p>
        </p:txBody>
      </p:sp>
      <p:pic>
        <p:nvPicPr>
          <p:cNvPr id="15" name="Picture 14" descr="slide-02-moun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846320"/>
            <a:ext cx="8366760" cy="1810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0" y="6656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6684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MOUNTED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06 ANIMATION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EVERY MOTION HAS A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Delta time connects displacement, gait, wheel rotation and camera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Gait angle = sin(distance phase) ×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amplitude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Wheel angle = distance / radius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8678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Doors rotate at hinges; Penny follows 3D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waypoints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O: ghost, ball and lamp ambience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57216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Fan rotor: 110°/s; clock hands follow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scene hour</a:t>
            </a:r>
          </a:p>
        </p:txBody>
      </p:sp>
      <p:pic>
        <p:nvPicPr>
          <p:cNvPr id="12" name="Picture 11" descr="slide-06-stair-des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539496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0" y="5303520"/>
            <a:ext cx="53949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5330952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STAIR DESCENT</a:t>
            </a:r>
          </a:p>
        </p:txBody>
      </p:sp>
      <p:pic>
        <p:nvPicPr>
          <p:cNvPr id="15" name="Picture 14" descr="slide-06-door-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560320"/>
            <a:ext cx="2788920" cy="1810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247120" y="4370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4398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DOOR IMPACT</a:t>
            </a:r>
          </a:p>
        </p:txBody>
      </p:sp>
      <p:pic>
        <p:nvPicPr>
          <p:cNvPr id="18" name="Picture 17" descr="slide-06-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4846320"/>
            <a:ext cx="2788920" cy="18105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247120" y="6656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0" y="6684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07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THREE LIGHT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Ambient + diffuse + specular + emission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Directional: sun/moon; parallel 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Point: lamp bulb; 1/(kc + kl d + kq d²)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Spot: lamp/headlights; smooth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inner/outer cone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Diffuse = kd max(N·L,0)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31536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Specular = ks max(R·V,0)^n</a:t>
            </a:r>
          </a:p>
        </p:txBody>
      </p:sp>
      <p:pic>
        <p:nvPicPr>
          <p:cNvPr id="12" name="Picture 11" descr="slide-07-l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539496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0" y="5303520"/>
            <a:ext cx="53949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5330952"/>
            <a:ext cx="5212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LAMP</a:t>
            </a:r>
          </a:p>
        </p:txBody>
      </p:sp>
      <p:pic>
        <p:nvPicPr>
          <p:cNvPr id="15" name="Picture 14" descr="slide-07-sp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2560320"/>
            <a:ext cx="2788920" cy="1810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1247120" y="4370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0" y="4398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SPOT</a:t>
            </a:r>
          </a:p>
        </p:txBody>
      </p:sp>
      <p:pic>
        <p:nvPicPr>
          <p:cNvPr id="18" name="Picture 17" descr="slide-07-diffu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4846320"/>
            <a:ext cx="2788920" cy="18105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1247120" y="6656832"/>
            <a:ext cx="278892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0" y="6684264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DIFFUSE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08 SHADING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WHERE IS LIGHT EVALUATED?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Matched views expose the difference between vertex and pixel illumination.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Flat: triangle normal from position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derivatives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Gouraud: vertex lighting → interpolated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colour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Phong: interpolated normal → pixel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lighting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Blinn: half-vector H = normalize(L+V)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F2 cycles raster modes; F4 returns to ray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tracing</a:t>
            </a:r>
          </a:p>
        </p:txBody>
      </p:sp>
      <p:pic>
        <p:nvPicPr>
          <p:cNvPr id="12" name="Picture 11" descr="slide-08-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4069080" cy="18105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0" y="4370832"/>
            <a:ext cx="406908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398264"/>
            <a:ext cx="3886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FLAT</a:t>
            </a:r>
          </a:p>
        </p:txBody>
      </p:sp>
      <p:pic>
        <p:nvPicPr>
          <p:cNvPr id="15" name="Picture 14" descr="slide-08-goura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560320"/>
            <a:ext cx="4069080" cy="1810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966960" y="4370832"/>
            <a:ext cx="406908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4398264"/>
            <a:ext cx="3886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GOURAUD</a:t>
            </a:r>
          </a:p>
        </p:txBody>
      </p:sp>
      <p:pic>
        <p:nvPicPr>
          <p:cNvPr id="18" name="Picture 17" descr="slide-08-pho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846320"/>
            <a:ext cx="4069080" cy="18105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669280" y="6656832"/>
            <a:ext cx="406908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6684264"/>
            <a:ext cx="3886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PHONG</a:t>
            </a:r>
          </a:p>
        </p:txBody>
      </p:sp>
      <p:pic>
        <p:nvPicPr>
          <p:cNvPr id="21" name="Picture 20" descr="slide-08-blin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0" y="4846320"/>
            <a:ext cx="4069080" cy="181051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966960" y="6656832"/>
            <a:ext cx="406908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6684264"/>
            <a:ext cx="3886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BLINN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09 RAY TRACING + SHADOWS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RAYS REVEAL A SECOND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Primary ray → nearest analytic hit → illumination → bounded continuation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BVH median split; world-space boxes;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near child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38728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Five analytic primitive intersection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equations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61104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Shadow rays test visibility to selected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Mirror floor/ball; straight 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05856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Raster lamp: 2048² depth map + 3 × 3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PCF</a:t>
            </a:r>
          </a:p>
        </p:txBody>
      </p:sp>
      <p:pic>
        <p:nvPicPr>
          <p:cNvPr id="12" name="Picture 11" descr="slide-09-ray-z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8366760" cy="18105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0" y="4370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398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RAY ZERO</a:t>
            </a:r>
          </a:p>
        </p:txBody>
      </p:sp>
      <p:pic>
        <p:nvPicPr>
          <p:cNvPr id="15" name="Picture 14" descr="slide-09-room-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846320"/>
            <a:ext cx="8366760" cy="181051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0" y="6656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6684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ROOM 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aunted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65760"/>
            <a:ext cx="11430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512" b="1">
                <a:solidFill>
                  <a:srgbClr val="FFDB67"/>
                </a:solidFill>
                <a:latin typeface="Segoe UI"/>
              </a:defRPr>
            </a:pPr>
            <a:r>
              <a:t>10 THE TOYS ARE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3075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3095" b="1">
                <a:solidFill>
                  <a:srgbClr val="FFDB67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9928"/>
            <a:ext cx="130759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72" b="0">
                <a:solidFill>
                  <a:srgbClr val="F6F1E2"/>
                </a:solidFill>
                <a:latin typeface="Segoe UI"/>
              </a:defRPr>
            </a:pPr>
            <a:r>
              <a:t>All five escape. The scene remains open to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4800600" cy="4370832"/>
          </a:xfrm>
          <a:prstGeom prst="roundRect">
            <a:avLst/>
          </a:prstGeom>
          <a:solidFill>
            <a:srgbClr val="0F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Adiba Tahsin · Roll 2107031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42519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CSE-4102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12463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Geometry · hierarchy · motion ·</a:t>
            </a:r>
          </a:p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425196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1E2"/>
                </a:solidFill>
                <a:latin typeface="Segoe UI"/>
              </a:defRPr>
            </a:pPr>
            <a:r>
              <a:t>Lighting · shading · textures · ray tracing</a:t>
            </a:r>
          </a:p>
        </p:txBody>
      </p:sp>
      <p:pic>
        <p:nvPicPr>
          <p:cNvPr id="11" name="Picture 10" descr="slide-10-story-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560320"/>
            <a:ext cx="8366760" cy="409651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0" y="6656832"/>
            <a:ext cx="8366760" cy="274320"/>
          </a:xfrm>
          <a:prstGeom prst="roundRect">
            <a:avLst/>
          </a:prstGeom>
          <a:solidFill>
            <a:srgbClr val="1F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6684264"/>
            <a:ext cx="8183879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24" b="0">
                <a:solidFill>
                  <a:srgbClr val="FFDB67"/>
                </a:solidFill>
                <a:latin typeface="Segoe UI"/>
              </a:defRPr>
            </a:pPr>
            <a:r>
              <a:t>STORY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7388352"/>
            <a:ext cx="10972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6F1E2"/>
                </a:solidFill>
                <a:latin typeface="Segoe UI"/>
              </a:defRPr>
            </a:pPr>
            <a:r>
              <a:t>Adiba Tahsin · 2107031 · CSE-4102 · KUET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0" y="7388352"/>
            <a:ext cx="9144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500"/>
              </a:spcAft>
              <a:defRPr sz="1296" b="0">
                <a:solidFill>
                  <a:srgbClr val="FFDB67"/>
                </a:solidFill>
                <a:latin typeface="Segoe UI"/>
              </a:defRPr>
            </a:pPr>
            <a:r>
              <a:t>10 / 10</a:t>
            </a:r>
          </a:p>
        </p:txBody>
      </p:sp>
      <p:pic>
        <p:nvPicPr>
          <p:cNvPr id="16" name="Picture 15" descr="KUE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0" y="502920"/>
            <a:ext cx="685800" cy="777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